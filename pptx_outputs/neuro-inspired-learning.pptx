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3561fc9d8481d" /><Relationship Type="http://schemas.openxmlformats.org/officeDocument/2006/relationships/extended-properties" Target="/docProps/app.xml" Id="R507703f7ac3b426d" /><Relationship Type="http://schemas.openxmlformats.org/officeDocument/2006/relationships/officeDocument" Target="/ppt/presentation.xml" Id="Re2a2d7d37fc643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49802abcc44e7"/>
  </p:sldMasterIdLst>
  <p:notesMasterIdLst>
    <p:notesMasterId xmlns:r="http://schemas.openxmlformats.org/officeDocument/2006/relationships" r:id="R2f8ea5ef40be4ede"/>
  </p:notesMasterIdLst>
  <p:sldIdLst>
    <p:sldId xmlns:r="http://schemas.openxmlformats.org/officeDocument/2006/relationships" id="256" r:id="Re23bbfb629f44abc"/>
    <p:sldId xmlns:r="http://schemas.openxmlformats.org/officeDocument/2006/relationships" id="257" r:id="R094918b223b5451e"/>
    <p:sldId xmlns:r="http://schemas.openxmlformats.org/officeDocument/2006/relationships" id="258" r:id="Rae61da6a21e146c1"/>
    <p:sldId xmlns:r="http://schemas.openxmlformats.org/officeDocument/2006/relationships" id="259" r:id="R033ab5bc4bc44822"/>
    <p:sldId xmlns:r="http://schemas.openxmlformats.org/officeDocument/2006/relationships" id="260" r:id="R5e694269332742d3"/>
    <p:sldId xmlns:r="http://schemas.openxmlformats.org/officeDocument/2006/relationships" id="261" r:id="R23cbf2c2f90e414a"/>
    <p:sldId xmlns:r="http://schemas.openxmlformats.org/officeDocument/2006/relationships" id="262" r:id="Ra1c50e26cafa4ecc"/>
    <p:sldId xmlns:r="http://schemas.openxmlformats.org/officeDocument/2006/relationships" id="263" r:id="R2629e346117b4abc"/>
    <p:sldId xmlns:r="http://schemas.openxmlformats.org/officeDocument/2006/relationships" id="264" r:id="Re9f13e6106aa413b"/>
    <p:sldId xmlns:r="http://schemas.openxmlformats.org/officeDocument/2006/relationships" id="265" r:id="Reffa35de8a1742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e545d4b8c4b2b" /><Relationship Type="http://schemas.openxmlformats.org/officeDocument/2006/relationships/slideMaster" Target="/ppt/slideMasters/slideMaster1.xml" Id="R77549802abcc44e7" /><Relationship Type="http://schemas.openxmlformats.org/officeDocument/2006/relationships/notesMaster" Target="/ppt/notesMasters/notesMaster1.xml" Id="R2f8ea5ef40be4ede" /><Relationship Type="http://schemas.openxmlformats.org/officeDocument/2006/relationships/presProps" Target="/ppt/presProps.xml" Id="Rc6f454039aa74347" /><Relationship Type="http://schemas.openxmlformats.org/officeDocument/2006/relationships/tableStyles" Target="/ppt/tableStyles.xml" Id="Rb5de3c9dcd2046f2" /><Relationship Type="http://schemas.openxmlformats.org/officeDocument/2006/relationships/slide" Target="/ppt/slides/slide1.xml" Id="Re23bbfb629f44abc" /><Relationship Type="http://schemas.openxmlformats.org/officeDocument/2006/relationships/slide" Target="/ppt/slides/slide2.xml" Id="R094918b223b5451e" /><Relationship Type="http://schemas.openxmlformats.org/officeDocument/2006/relationships/slide" Target="/ppt/slides/slide3.xml" Id="Rae61da6a21e146c1" /><Relationship Type="http://schemas.openxmlformats.org/officeDocument/2006/relationships/slide" Target="/ppt/slides/slide4.xml" Id="R033ab5bc4bc44822" /><Relationship Type="http://schemas.openxmlformats.org/officeDocument/2006/relationships/slide" Target="/ppt/slides/slide5.xml" Id="R5e694269332742d3" /><Relationship Type="http://schemas.openxmlformats.org/officeDocument/2006/relationships/slide" Target="/ppt/slides/slide6.xml" Id="R23cbf2c2f90e414a" /><Relationship Type="http://schemas.openxmlformats.org/officeDocument/2006/relationships/slide" Target="/ppt/slides/slide7.xml" Id="Ra1c50e26cafa4ecc" /><Relationship Type="http://schemas.openxmlformats.org/officeDocument/2006/relationships/slide" Target="/ppt/slides/slide8.xml" Id="R2629e346117b4abc" /><Relationship Type="http://schemas.openxmlformats.org/officeDocument/2006/relationships/slide" Target="/ppt/slides/slide9.xml" Id="Re9f13e6106aa413b" /><Relationship Type="http://schemas.openxmlformats.org/officeDocument/2006/relationships/slide" Target="/ppt/slides/slide10.xml" Id="Reffa35de8a1742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eca54226b64c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4f1ace2114402" /><Relationship Type="http://schemas.openxmlformats.org/officeDocument/2006/relationships/notesMaster" Target="/ppt/notesMasters/notesMaster1.xml" Id="Rcf2b6d7ea14243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8f16c8c5824bf7" /><Relationship Type="http://schemas.openxmlformats.org/officeDocument/2006/relationships/notesMaster" Target="/ppt/notesMasters/notesMaster1.xml" Id="R4c89c9bd92d1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fa3990a78c4bd9" /><Relationship Type="http://schemas.openxmlformats.org/officeDocument/2006/relationships/notesMaster" Target="/ppt/notesMasters/notesMaster1.xml" Id="Re76da468c7ce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2e244257ce4610" /><Relationship Type="http://schemas.openxmlformats.org/officeDocument/2006/relationships/notesMaster" Target="/ppt/notesMasters/notesMaster1.xml" Id="R690462384a254a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62fb7faf0a491c" /><Relationship Type="http://schemas.openxmlformats.org/officeDocument/2006/relationships/notesMaster" Target="/ppt/notesMasters/notesMaster1.xml" Id="R4a25624a4aba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d75efcf6f48b4" /><Relationship Type="http://schemas.openxmlformats.org/officeDocument/2006/relationships/notesMaster" Target="/ppt/notesMasters/notesMaster1.xml" Id="R57bb2a206c0a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b332935ea4f7b" /><Relationship Type="http://schemas.openxmlformats.org/officeDocument/2006/relationships/notesMaster" Target="/ppt/notesMasters/notesMaster1.xml" Id="R947afa93c8f1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f1444e338a48ae" /><Relationship Type="http://schemas.openxmlformats.org/officeDocument/2006/relationships/notesMaster" Target="/ppt/notesMasters/notesMaster1.xml" Id="Rb7a96588d1034f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d16cd8d904d87" /><Relationship Type="http://schemas.openxmlformats.org/officeDocument/2006/relationships/notesMaster" Target="/ppt/notesMasters/notesMaster1.xml" Id="R77f5cafcb030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601a79b497436e" /><Relationship Type="http://schemas.openxmlformats.org/officeDocument/2006/relationships/notesMaster" Target="/ppt/notesMasters/notesMaster1.xml" Id="Rade3e0db05b942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来源：D:/Code/blog/Mulberry7277.github.io/_posts/2026-10-05-neuro-inspired-learning.md。封面插图为文章中的自绘示意图。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来源：文章第 1 节。核心区分：网络运行机制与参数更新机制不是同一个问题。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来源：文章第 2 节；STDP 图为文章自绘示意。公式是典型模型形式，不代表所有生物突触。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来源：文章第 3–4 节。三因子规则与资格迹是概念模型；神经调质的具体实现可能涉及多步细胞过程。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来源：Bellec et al. (2020), Nature Communications, https://www.nature.com/articles/s41467-020-17236-y；文章第 5 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来源：Guerguiev, Lillicrap &amp; Richards (2017), eLife, https://elifesciences.org/articles/22901；文章第 6 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来源：Kirkpatrick et al. (2017), PNAS, https://doi.org/10.1073/pnas.1611835114；文章第 7 节。EWC 是工程化持续学习方法，不等同于完整生物机制。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来源：文章第 8 节。数字生命部分连接了果蝇全脑模型、视觉连接组模型和可塑性学习机制。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来源：文章第 9–10 节。此页是对文章比较表的压缩版，强调不同机制在信用分配链上的分工。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来源：文章第 10–11 节。后续可继续补充实验论文和具体代码实现。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a7fba59c24e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928eb27e5409b" /><Relationship Type="http://schemas.openxmlformats.org/officeDocument/2006/relationships/slideLayout" Target="/ppt/slideLayouts/slideLayout1.xml" Id="Rf31b9f3531c14e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b9f3531c14e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79bbf78284027" /><Relationship Type="http://schemas.openxmlformats.org/officeDocument/2006/relationships/image" Target="/ppt/media/image.png" Id="R49fbcefff70c4668" /><Relationship Type="http://schemas.openxmlformats.org/officeDocument/2006/relationships/image" Target="/ppt/media/image.svg" Id="R1e1ef3b74cee49d4" /><Relationship Type="http://schemas.openxmlformats.org/officeDocument/2006/relationships/notesSlide" Target="/ppt/notesSlides/notesSlide1.xml" Id="Rd06cfdee720843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4fa63137c4407" /><Relationship Type="http://schemas.openxmlformats.org/officeDocument/2006/relationships/notesSlide" Target="/ppt/notesSlides/notesSlide2.xml" Id="R0e101aee377440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16a93c13469d" /><Relationship Type="http://schemas.openxmlformats.org/officeDocument/2006/relationships/image" Target="/ppt/media/image2.png" Id="Re2c384aa8b514adc" /><Relationship Type="http://schemas.openxmlformats.org/officeDocument/2006/relationships/image" Target="/ppt/media/image2.svg" Id="R0a7e4cbcc85a4e88" /><Relationship Type="http://schemas.openxmlformats.org/officeDocument/2006/relationships/notesSlide" Target="/ppt/notesSlides/notesSlide3.xml" Id="Re7173314fe1746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eab96e1cc4469" /><Relationship Type="http://schemas.openxmlformats.org/officeDocument/2006/relationships/image" Target="/ppt/media/image3.png" Id="Re96eeae3a72e4ee1" /><Relationship Type="http://schemas.openxmlformats.org/officeDocument/2006/relationships/image" Target="/ppt/media/image3.svg" Id="R6df6882a83d94a52" /><Relationship Type="http://schemas.openxmlformats.org/officeDocument/2006/relationships/image" Target="/ppt/media/image4.png" Id="R1a3a97342b994923" /><Relationship Type="http://schemas.openxmlformats.org/officeDocument/2006/relationships/image" Target="/ppt/media/image4.svg" Id="R84e14bd117e641f0" /><Relationship Type="http://schemas.openxmlformats.org/officeDocument/2006/relationships/notesSlide" Target="/ppt/notesSlides/notesSlide4.xml" Id="R2b983f2e299043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06c6e4c6d4819" /><Relationship Type="http://schemas.openxmlformats.org/officeDocument/2006/relationships/image" Target="/ppt/media/image5.png" Id="Rc94431209d0e4a1e" /><Relationship Type="http://schemas.openxmlformats.org/officeDocument/2006/relationships/image" Target="/ppt/media/image5.svg" Id="R42a1528e1caf4879" /><Relationship Type="http://schemas.openxmlformats.org/officeDocument/2006/relationships/notesSlide" Target="/ppt/notesSlides/notesSlide5.xml" Id="Re3496cf0dcdd47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13bfa60542aa" /><Relationship Type="http://schemas.openxmlformats.org/officeDocument/2006/relationships/image" Target="/ppt/media/image6.png" Id="R33c5c21aadde43e9" /><Relationship Type="http://schemas.openxmlformats.org/officeDocument/2006/relationships/image" Target="/ppt/media/image6.svg" Id="R35802ec297084fe4" /><Relationship Type="http://schemas.openxmlformats.org/officeDocument/2006/relationships/notesSlide" Target="/ppt/notesSlides/notesSlide6.xml" Id="Rcad33b631fac48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b83a019b74a2a" /><Relationship Type="http://schemas.openxmlformats.org/officeDocument/2006/relationships/image" Target="/ppt/media/image7.png" Id="R49f0ee9a26b742f5" /><Relationship Type="http://schemas.openxmlformats.org/officeDocument/2006/relationships/image" Target="/ppt/media/image7.svg" Id="R3598f2eaca5441df" /><Relationship Type="http://schemas.openxmlformats.org/officeDocument/2006/relationships/notesSlide" Target="/ppt/notesSlides/notesSlide7.xml" Id="R91024c2e919c45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b0ae0d4641af" /><Relationship Type="http://schemas.openxmlformats.org/officeDocument/2006/relationships/image" Target="/ppt/media/image8.png" Id="R658f11cd630e4eb2" /><Relationship Type="http://schemas.openxmlformats.org/officeDocument/2006/relationships/image" Target="/ppt/media/image8.svg" Id="R5e900ace8c314b9a" /><Relationship Type="http://schemas.openxmlformats.org/officeDocument/2006/relationships/notesSlide" Target="/ppt/notesSlides/notesSlide8.xml" Id="R97e183aa5d3649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55b9906544c54" /><Relationship Type="http://schemas.openxmlformats.org/officeDocument/2006/relationships/notesSlide" Target="/ppt/notesSlides/notesSlide9.xml" Id="R48a457da0d1546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66db695c44028" /><Relationship Type="http://schemas.openxmlformats.org/officeDocument/2006/relationships/notesSlide" Target="/ppt/notesSlides/notesSlide10.xml" Id="R23502afe212848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A0F66-BF5E-4E7D-AC68-799BA91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FCCDA-2746-48C3-BF87-41888C05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001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神经启发的学习机制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4473D-BA69-4C02-B71D-DAA6CD0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从局部突触可塑性到持续学习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E6533-01EA-41ED-AB75-2DC13E1B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rPr>
              <a:t>学习记录｜神经机制启发新一代人工神经网络设计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E900D-6E0D-433E-B10E-E21E9E9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Hebbian · STDP · 三因子规则 · e-prop · 树突计算 · 持续学习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bcefff70c4668">
            <a:extLst>
              <a:ext uri="{96DAC541-7B7A-43D3-8B79-37D633B846F1}">
                <asvg:svgBlip xmlns:asvg="http://schemas.microsoft.com/office/drawing/2016/SVG/main" r:embed="R1e1ef3b74cee49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0" y="104775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D436A-3523-4C70-98F9-7B37FC2C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43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rPr>
              <a:t>基于 2026-10-05-neuro-inspired-learning.md</a:t>
            </a:r>
          </a:p>
        </p:txBody>
      </p:sp>
    </p:spTree>
    <p:extLst>
      <p:ext uri="{BB962C8B-B14F-4D97-AF65-F5344CB8AC3E}">
        <p14:creationId xmlns:p14="http://schemas.microsoft.com/office/powerpoint/2010/main" val="1890801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FD82E-1903-4356-93BC-BFF6903E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学习机制回答的是“网络怎样改变”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7ECF0-91F4-4037-9330-86FD8873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B82AE-797C-4ADD-BE48-5071A15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概念框架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8EF08-A891-4E5E-8DB1-E51AC05B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脉冲神经元、树突和连接组描述网络怎样运行；突触可塑性、神经调质和巩固机制描述网络怎样从经验中改变。两者可以组合，也可以分别使用。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135C8-AEB3-4281-BCE3-05635ACE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反向传播很有效，但对生物回路提出了强要求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11C4A-2A45-4173-BAED-9332129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更新突触时通常需要远处神经元的误差信号</a:t>
            </a:r>
          </a:p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BPTT 需要保存较长时间内的网络状态</a:t>
            </a:r>
          </a:p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前向与反向权重之间存在传输问题</a:t>
            </a:r>
          </a:p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学习信号常是批量、离线和全局的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9CFD5-E0D6-4D0E-9F65-67709D95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957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BB84D-64E5-4E86-A9EF-28C75D60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神经启发学习的信用分配链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8CB4F-544E-498F-ADD3-25E7D834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2762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57B9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D1DC6-07A3-4732-97EC-2D9B7F8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局部活动  记录突触前后相关性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629C1-679F-401D-9017-3A3E40FA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E6E42-2E6D-436D-9239-6AFBE57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762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EF93A-4603-4EDF-9A47-03FC963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资格迹  保存延迟原因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75049-51D7-475A-9B50-32DBED9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480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C4857-56B1-4CD9-A379-EB180A1D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762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054C0-E28D-4536-9803-8881DAFE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调制信号  筛选值得保留的改变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B5AF0-EEE8-4FD7-BB52-8DF491D5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386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0CDBA-AA66-408F-BE39-6EFED86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2762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B6179-1E83-41CE-AE7D-F06A594F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巩固  决定改变保持多久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E0F0D-6E77-4755-B95F-5F0E968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02  神经启发的学习机制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29963-0E73-400F-93A4-04A5512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435984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7D6C2-DFE2-4191-B789-C1C0425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局部突触可塑性：相关性与时间顺序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97706-3EEF-4FC9-A8D2-37FCBF48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9BEF0-AD0A-4B99-8EF6-56890F75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Hebbian learning · STDP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00E50-7F93-4049-A9F3-F44080B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Hebbian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21D96-C755-4639-929C-8D440672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共同激活的神经元会改变彼此的连接。它只需要突触两端的活动，因此天然局部，但缺少任务目标，权重也可能不断增长。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1B25B-BF98-4D65-8992-566F6AD0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Δwᵢⱼ = η xᵢ yⱼ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C1108-AB94-4F75-AF63-AFE606C9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STDP 把脉冲的相对时间加入规则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43E73-158C-42C5-9768-CC03D47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突触前脉冲先到，通常更容易增强；顺序相反，通常更容易削弱。它能利用毫秒到秒级时间结构，但单靠相关性难以处理延迟奖励。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384aa8b514adc">
            <a:extLst>
              <a:ext uri="{96DAC541-7B7A-43D3-8B79-37D633B846F1}">
                <asvg:svgBlip xmlns:asvg="http://schemas.microsoft.com/office/drawing/2016/SVG/main" r:embed="R0a7e4cbcc85a4e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53125" y="1524000"/>
            <a:ext cx="514350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0F5-A158-49C9-ADA5-DF5BE995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72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典型时间窗，具体方向和幅度依赖脑区、受体和行为状态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2845A-9B6B-4DCB-940C-7FD14B2C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03  神经启发的学习机制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F0D2-3F7A-4238-AFBD-2EA4747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1852400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2CE1-F04F-452C-8746-41F39DF6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三因子规则把局部活动和奖励联系起来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5B56D-EFB7-40E6-9363-F26723D1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59046-9F11-4FAC-BD97-D3EDED05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调制信号 · 资格迹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71E15-C0C2-487D-98B8-EE45C907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局部活动留下资格迹，神经调质或奖励信号决定这段活动是否值得写入。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eeae3a72e4ee1">
            <a:extLst>
              <a:ext uri="{96DAC541-7B7A-43D3-8B79-37D633B846F1}">
                <asvg:svgBlip xmlns:asvg="http://schemas.microsoft.com/office/drawing/2016/SVG/main" r:embed="R6df6882a83d94a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143125"/>
            <a:ext cx="4905375" cy="300037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a97342b994923">
            <a:extLst>
              <a:ext uri="{96DAC541-7B7A-43D3-8B79-37D633B846F1}">
                <asvg:svgBlip xmlns:asvg="http://schemas.microsoft.com/office/drawing/2016/SVG/main" r:embed="R84e14bd117e641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2143125"/>
            <a:ext cx="49053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2041E-4356-4913-8872-56082726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Δwᵢⱼ(t) = η M(t) eᵢⱼ(t)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68D76-F8D2-4439-AF50-89B3F8F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340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eᵢⱼ 保存局部活动的时间痕迹</a:t>
            </a:r>
          </a:p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M(t) 提供奖励、预测误差或神经调质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B5846-2D79-4CAA-BBD4-26B93BDD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04  神经启发的学习机制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1F133-7C15-4A3C-AA59-E3FC1A18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430236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6C97E-AFB4-41B6-A37B-3729590B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e-prop：把循环网络学习拆成局部计算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32C6F-D806-4037-A45E-7D038ECF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9EFE8-1F36-4E39-B2EC-4D68D3D3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在线学习循环脉冲网络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431209d0e4a1e">
            <a:extLst>
              <a:ext uri="{96DAC541-7B7A-43D3-8B79-37D633B846F1}">
                <asvg:svgBlip xmlns:asvg="http://schemas.microsoft.com/office/drawing/2016/SVG/main" r:embed="R42a1528e1caf48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600200"/>
            <a:ext cx="5191125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A5C6E-0510-4CF2-9302-42242176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e-prop 的计算分工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F7DC0-5FDD-4087-B4A3-29219FF9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1  每个突触根据前、后神经活动在线计算资格迹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2  学习信号在需要时与资格迹相乘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3  权重更新不必保存完整的时间展开状态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C3AD6-062B-41C1-A024-54EBA69A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Δwᵢⱼ(t) ≈ Lⱼ(t) eᵢⱼ(t)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0E8B-C9D8-41B5-A98C-D99847D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意义：把在线、局部、带时间记忆的学习变成可分析的算法框架。</a:t>
            </a:r>
          </a:p>
          <a:p xmlns:a="http://schemas.openxmlformats.org/drawingml/2006/main">
            <a:pPr>
              <a:defRPr sz="14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边界：学习信号的来源和生物实现仍需解释。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51131-60FA-4A1A-9E67-1D25FAA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05  神经启发的学习机制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7088B-C361-48C7-A0C6-6C7ED747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635384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9F99B-029A-4A99-9C3E-B16EF987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树突计算：局部神经元可能看到局部误差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98B2F-FB8E-4A93-B37E-8C6C96D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C8104-3319-46B6-8F5A-3192A83B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分支结构 · 反馈输入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F700E-16B3-49C8-822B-DC3321B2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人工神经元常写成一次加权求和：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255F8-B377-4F9D-846F-CC91CB9A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y = φ(Σᵢ wᵢxᵢ + 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19443-BA30-482A-8331-8972F5C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572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真实神经元的树突具有空间结构。不同分支可以接收前馈、反馈和侧向输入，并在到达胞体前进行局部非线性计算。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F5008-59C7-4713-87C5-68721085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候选机制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2CA8C-204E-4C5C-AAF0-839797DB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基底树突接收前馈输入，顶端树突接收反馈或目标信号。局部电位差可能成为突触更新的误差信号。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5c21aadde43e9">
            <a:extLst>
              <a:ext uri="{96DAC541-7B7A-43D3-8B79-37D633B846F1}">
                <asvg:svgBlip xmlns:asvg="http://schemas.microsoft.com/office/drawing/2016/SVG/main" r:embed="R35802ec297084f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0" y="1666875"/>
            <a:ext cx="4762500" cy="3857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A9709-5497-41B6-A171-43BD358A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树突参与计算是实验事实；具体局部误差算法仍是候选机制。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AEC20-F43F-475A-8523-F98F1BA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06  神经启发的学习机制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45EF5-A0D9-464E-8C4F-F1488EC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1203789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D5F9D-B1C1-4FBD-8E92-DD68971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持续学习：保护旧知识，同时允许新知识进入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CAD40-9F03-41BF-BC7B-F776CD8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E1F59-5D55-4168-B69B-56D50F86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突触巩固 · 元可塑性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0ee9a26b742f5">
            <a:extLst>
              <a:ext uri="{96DAC541-7B7A-43D3-8B79-37D633B846F1}">
                <asvg:svgBlip xmlns:asvg="http://schemas.microsoft.com/office/drawing/2016/SVG/main" r:embed="R3598f2eaca5441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6192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84526-5280-48B5-B9D3-3F6F84A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EWC 的核心想法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9BE29-E68E-4835-B0F3-01386924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重要参数更难被新任务改变，不重要参数仍保持可塑性。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6C866-06D9-4FEC-B96A-CB531B49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L(θ) = Lᴮ(θ) + λ/2 Σᵢ Fᵢ(θᵢ − θ*ᴬ,ᵢ)²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8C3B3-D4E2-48D1-A3D9-6A7B3043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Fᵢ：旧任务中参数的重要性</a:t>
            </a:r>
          </a:p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θ*ᴬ：旧任务学到的参数</a:t>
            </a:r>
          </a:p>
          <a:p xmlns:a="http://schemas.openxmlformats.org/drawingml/2006/main">
            <a:pPr>
              <a:def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λ：巩固强度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2425A-4E58-4096-BD08-04659C3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与三因子规则结合后：调制信号决定哪些活动值得写入，巩固机制决定这些改变保持多久。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9DF47-06EC-4720-8E1B-46FBAC55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07  神经启发的学习机制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A83B0-4285-43AB-9BAD-7DBDB021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215039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2A045-843F-4299-9093-5047C584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19CF5-7542-47B3-B985-26156FF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从可运行的数字脑走向可学习的数字生命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9A4C4-A56D-40A9-871C-9F8839A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rPr>
              <a:t>连接组 × 动力学 × 可塑性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f11cd630e4eb2">
            <a:extLst>
              <a:ext uri="{96DAC541-7B7A-43D3-8B79-37D633B846F1}">
                <asvg:svgBlip xmlns:asvg="http://schemas.microsoft.com/office/drawing/2016/SVG/main" r:embed="R5e900ace8c314b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619250"/>
            <a:ext cx="47625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70A01-397E-4F7E-B60D-A659468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连接组模型回答：信号沿哪些路径流动？</a:t>
            </a:r>
          </a:p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神经动力学回答：信号怎样随时间变化？</a:t>
            </a:r>
          </a:p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学习机制还要回答：哪些路径会被写入记忆？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0CC0-1AB2-4EDD-9F3E-2CEA10E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AE803-1777-433C-A372-CD2ED044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09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B7CBD-0ADD-4B15-9F5D-DDA70DE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可修改的突触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B55F6-1B60-446A-8AFA-88365A1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明确可塑连接和更新变量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F9D58-8CB6-4723-9EAB-16D2167C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1908B-50E1-46E2-8A83-C2B88644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7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AE4E3-FC73-4680-A0F1-431B560C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局部活动记录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377E4-55AF-4C87-9D2A-223EC35F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根据前、后活动生成资格迹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352C8-D560-4BB6-A964-F21467F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62BD8-A315-4C47-BAE9-DC13DCC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43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2B356-7C8D-4083-9CF7-FD260C5E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67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调制或误差信号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3C44A-8810-4228-A520-62816F8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筛选值得保留的更新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84517-8276-4DDE-9C09-7311BD5E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340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8A046-4E5B-4FE1-A2F0-C0AD543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10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5AB15-0261-453F-8095-CAF29702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340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身体—环境闭环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3CD8F-4736-452D-A84D-A454882F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动作改变环境，反馈影响下一轮学习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3CE5B-9AC9-4596-BE61-BD3E7695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rPr>
              <a:t>08  神经启发的学习机制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F8937-C6FB-4387-8C69-8FB90120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B8C7D9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1547794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657BE-9CF5-4A7F-B433-5D170E4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几类机制各自解决信用分配链上的一段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6D1FE-9CDF-4EF3-923B-006894EA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E760E-0D39-4930-ACFC-F6AF7C23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组合路线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8239D-6120-483E-90E6-49D247B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AA335-5BC3-46F4-8B85-492F8324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383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95CF7-5EF1-40B4-B5B7-E64F7848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2F3F2-24E2-4BFA-8F0A-4741D06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它解决的时间问题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AA54F-DD53-48EC-A627-EC0CEF97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CAEF8-8443-4AC3-B107-B4B4D414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Hebbian / STDP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D769E-C8E4-42B8-8B91-B9FCBC2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57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局部相关性与脉冲顺序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483D0-4476-4791-BDD0-0EE37A99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57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短时间尺度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80930-6FB2-4BCA-AE48-2237E3A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A7433-5EDF-46CF-A03F-59597AD0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三因子规则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C16D2-CFDA-4B68-8D40-9704029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81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奖励、预测误差与调制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375CE-D0EA-4C27-9CD7-CD3D2FB8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筛选哪些迹线值得写入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0C83C-D5C4-44C8-B08B-E2A33D51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860E4-6242-4075-A91F-2E30EC0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052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资格迹 / e-prop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3B69A-27B4-4861-AA5C-099E89B3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延迟奖励与长时间序列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826B4-6C7C-4AFB-9195-ACE21A7A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05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在线保存因果历史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79D5F-9BB8-4E27-A7E3-46926A70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1E3FC-8973-4676-A000-0DE1FA5E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树突局部误差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9F5E0-C75F-4740-B2D8-2A46A68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29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前馈、反馈和分支电位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4F6F0-8DF9-408D-8C73-D4358D89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提供局部目标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2F8C8-F688-4657-9E6A-DEBB77C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7F335-87E9-4856-A2C8-1B0725ED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530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巩固 / 元可塑性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18D7E2-E8E2-42AC-925F-7728DE3F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530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旧知识与新任务的平衡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5D2CD-D7A0-4A69-89AD-A403F8EE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53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控制参数保持多久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7F401-804F-4C56-BB89-6378FA15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组合路线：局部活动产生迹线，三因子信号筛选更新，e-prop 处理长时间依赖，树突提供局部目标，巩固机制保护旧知识。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9EDB7-799F-478D-9C60-B34332A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09  神经启发的学习机制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80427-FA56-4602-88D9-0F9690E1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413636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883D4-85D3-4BD5-AFB8-588AD079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核心理解：学习机制是一条信用分配链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00480-C1B6-4B97-901B-AE9849DB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9A3E2-0C01-4AE0-8A27-48F6E923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结论与后续阅读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F22B-EAA8-44F1-B584-266D91B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E9483-8F36-4545-9106-2973CED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局部活动提出候选改变，资格迹保存因果历史，</a:t>
            </a:r>
          </a:p>
          <a:p xmlns:a="http://schemas.openxmlformats.org/drawingml/2006/main">
            <a:pPr>
              <a:defRPr sz="23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调制信号筛选改变，树突和反馈提供局部目标，</a:t>
            </a:r>
          </a:p>
          <a:p xmlns:a="http://schemas.openxmlformats.org/drawingml/2006/main">
            <a:pPr>
              <a:defRPr sz="23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巩固机制决定改变保留多久。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5CD41-72AF-4BBB-AB1F-87122E6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后续阅读论文时，优先追问四个问题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AA61-75FA-4580-812B-8F74B96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生物机制是什么？</a:t>
            </a:r>
          </a:p>
          <a:p xmlns:a="http://schemas.openxmlformats.org/drawingml/2006/main">
            <a:pPr>
              <a:def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更新信号在哪里产生？</a:t>
            </a:r>
          </a:p>
          <a:p xmlns:a="http://schemas.openxmlformats.org/drawingml/2006/main">
            <a:pPr>
              <a:def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更新是否局部？</a:t>
            </a:r>
          </a:p>
          <a:p xmlns:a="http://schemas.openxmlformats.org/drawingml/2006/main">
            <a:pPr>
              <a:def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模型是否真的在运行过程中学习？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22CC0-E69B-449D-BF97-6610B23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457B9D"/>
                </a:solidFill>
                <a:latin typeface="Microsoft YaHei"/>
                <a:ea typeface="Microsoft YaHei"/>
                <a:cs typeface="Microsoft YaHei"/>
              </a:rPr>
              <a:t>这套框架可以把脉冲网络、树突动力学、果蝇蘑菇体模型和持续学习方法放进同一条问题链里。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A196-46CB-4026-9408-6A398CEA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主要来源：Bellec et al. 2020 · Guerguiev et al. 2017 · Kirkpatrick et al. 2017 · 2026-10-05-neuro-inspired-learning.md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DCCAF-69F9-48CD-B04F-777F6B14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  神经启发的学习机制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61E70-06B1-4F16-A944-DA53692E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Mulberry7277.github.io</a:t>
            </a:r>
          </a:p>
        </p:txBody>
      </p:sp>
    </p:spTree>
    <p:extLst>
      <p:ext uri="{BB962C8B-B14F-4D97-AF65-F5344CB8AC3E}">
        <p14:creationId xmlns:p14="http://schemas.microsoft.com/office/powerpoint/2010/main" val="1642457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2026-10-01T08:41:38.6310000Z</dcterms:created>
  <dcterms:modified xsi:type="dcterms:W3CDTF">2026-10-01T08:41:38.6320000Z</dcterms:modified>
</coreProperties>
</file>